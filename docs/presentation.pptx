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60" r:id="rId6"/>
    <p:sldId id="259" r:id="rId5"/>
    <p:sldId id="263" r:id="rId9"/>
    <p:sldId id="264" r:id="rId10"/>
    <p:sldId id="265" r:id="rId11"/>
    <p:sldId id="268" r:id="rId19"/>
    <p:sldId id="258" r:id="rId4"/>
    <p:sldId id="277" r:id="rId28"/>
    <p:sldId id="278" r:id="rId29"/>
    <p:sldId id="266" r:id="rId12"/>
    <p:sldId id="279" r:id="rId30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9fe0de1-f20d-65b0-7541-18c2297b6454}">
          <p14:sldIdLst>
            <p14:sldId id="256"/>
            <p14:sldId id="257"/>
            <p14:sldId id="258"/>
          </p14:sldIdLst>
        </p14:section>
        <p14:section name="Stage 1 — RAG" id="{1bf7d64f-2d2a-bbea-b722-6da16dc4a3e0}">
          <p14:sldIdLst>
            <p14:sldId id="259"/>
            <p14:sldId id="260"/>
          </p14:sldIdLst>
        </p14:section>
        <p14:section name="In action" id="{7c54c093-785d-d71d-0380-739f193160c2}">
          <p14:sldIdLst>
            <p14:sldId id="261"/>
            <p14:sldId id="262"/>
          </p14:sldIdLst>
        </p14:section>
        <p14:section name="Stage 2 — Human-in-the-loop" id="{01fe570f-62dd-105d-bf09-e1c915b932ef}">
          <p14:sldIdLst>
            <p14:sldId id="263"/>
          </p14:sldIdLst>
        </p14:section>
        <p14:section name="Stage 3 — MCP server" id="{f8446826-963b-7aa1-e230-150140159f42}">
          <p14:sldIdLst>
            <p14:sldId id="264"/>
          </p14:sldIdLst>
        </p14:section>
        <p14:section name="Stage 4 — Orchestration" id="{d494e626-e859-4659-bcd9-a977fb10b207}">
          <p14:sldIdLst>
            <p14:sldId id="265"/>
          </p14:sldIdLst>
        </p14:section>
        <p14:section name="Testing" id="{16bf9296-67c8-c460-474d-6822690e8f7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32257"/>
                </a:solidFill>
              </a:rPr>
              <a:t>Evidently: share of questions passing every check, by category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Passing every check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Sheet1!$A$2:$A$8</c:f>
              <c:strCache>
                <c:ptCount val="7"/>
                <c:pt idx="0">
                  <c:v>single_fact (15)</c:v>
                </c:pt>
                <c:pt idx="1">
                  <c:v>paraphrase (5)</c:v>
                </c:pt>
                <c:pt idx="2">
                  <c:v>multi_fact (3)</c:v>
                </c:pt>
                <c:pt idx="3">
                  <c:v>not_in_docs (2)</c:v>
                </c:pt>
                <c:pt idx="4">
                  <c:v>out_of_scope (2)</c:v>
                </c:pt>
                <c:pt idx="5">
                  <c:v>private_data (2)</c:v>
                </c:pt>
                <c:pt idx="6">
                  <c:v>injection (1)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</c:v>
                </c:pt>
                <c:pt idx="1">
                  <c:v>0.2</c:v>
                </c:pt>
                <c:pt idx="2">
                  <c:v>0.3333333333333333</c:v>
                </c:pt>
                <c:pt idx="3">
                  <c:v>0.5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>
                  <a:solidFill>
                    <a:srgbClr val="13225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BE4EF"/>
            </a:solidFill>
          </a:ln>
        </c:spPr>
        <c:txPr>
          <a:bodyPr/>
          <a:lstStyle/>
          <a:p>
            <a:pPr>
              <a:defRPr sz="1000">
                <a:solidFill>
                  <a:srgbClr val="1322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>
          <c:spPr>
            <a:ln>
              <a:solidFill>
                <a:srgbClr val="DBE4EF"/>
              </a:solidFill>
            </a:ln>
          </c:spPr>
        </c:majorGridlines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Graph" Type="http://schemas.openxmlformats.org/officeDocument/2006/relationships/image" Target="../media/image-graph.png"/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ENGINEERING: FAST TRACK — COURSE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VilniusPark Parking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 Chatbot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5196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chatbot that answers questions, collects reservations, routes each one through a human administrator, and records approvals through an MCP server — orchestrated end to end with LangGraph.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RAG · Stage 2 Human-in-the-loop · Stage 3 MCP server · Stage 4 LangGraph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one pipeline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gradable on its own, but they hand off to each other: a reservation only reaches the MCP server after a human has approved it, and the whole chain is wired together with LangGraph.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07208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over Milvus + Postgres, with guardrails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807208"/>
            <a:ext cx="548640" cy="5486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HITL agent pauses each booking for the admin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92240" y="280720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approved reservations to a file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326880" y="2807208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2688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checkpointed graph ties stages 1–3 together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— EPAM AI Engineering: Fast Track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four stages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945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774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05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/chat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 node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062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793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dynamic data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350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pending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369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pause · checkpointed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097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92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65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/admin/* API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515600" y="315468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926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0B98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657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record_reservation()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8638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69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09760" y="418338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686800" y="4709160"/>
            <a:ext cx="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5166360"/>
            <a:ext cx="8961120" cy="594360"/>
          </a:xfrm>
          <a:prstGeom prst="roundRect">
            <a:avLst>
              <a:gd name="adj" fmla="val 15385"/>
            </a:avLst>
          </a:prstGeom>
          <a:solidFill>
            <a:srgbClr val="6474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5166360"/>
            <a:ext cx="8814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node sets approved / rejected — notification node pops the outcome up in the chat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app/ai/graph.py · app/api/routers/*.py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tool-calling agent over a split store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docs (general info, rules, booking process, per-car-park pages) are embedded into Milvus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data (hours, prices, capacity, reservations) stays in Postgres — it changes, so it's queried live, never embedded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check_availability counts free spaces per period; a row lock stops two bookings taking the last one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(prepare_reservation) is a separate, explicit step from a save (confirm) — the model never authorizes a database write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9516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list_parkings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95160" y="21305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names, districts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766560" y="269748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951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get_parking_info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31363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date-specific prices, hours, capacity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766560" y="370332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9516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search_public_rules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4142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vector + BM25 search, PII-guarded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66560" y="470916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95160" y="4800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prepare_reservation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51480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+ returns a review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 · app/db/repositories/*.py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GUARDRAILS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that held up under real use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PIIGuard (Presidio + spaCy) keeps PII out of search queries and Milvus; PIIMiddleware redacts the agent's traffic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opt-in transformer classifier screens for prompt injection before anything else runs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settings.public_contacts allow-lists the operator's own published phone/email so it's never redacted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EF3C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937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actually running the stack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852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testing caught a real bug the test suite missed: spaCy’s small NER model tagged "Vilnius" as a PERSON, corrupting answers mid-sentence. PERSON carries no real leak risk here (Milvus holds no customer data), so it was dropped from the redaction list.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false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after the fix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96696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kept: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PHONE, etc.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app/ai/guardrails.py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chat UI, 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land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q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cited sources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app/templates/chat.html · app/static/chat.js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human-in-the-loop admin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agent proposes request_admin_approval(summary); LangChain's HumanInTheLoopMiddleware pauses that call until the administrator decides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administrator decides over a REST API (GET /admin/reservations, POST .../decision), guarded by X-Admin-Key with lockout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interchangeable clients: a Streamlit console and a web page at /admin — same API underneath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finds out too: the chat page polls and pops up “Reservation approved” or “rejected”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6" name="Image 0" descr="/private/tmp/claude-501/-Users-kiryll-fiodarau-parking-reservation-chatbot/482ae88f-4f64-4e1d-b8b2-9ecbe3b20b7a/scratchpad/deck/images/admin-con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39712" y="1764792"/>
            <a:ext cx="4700016" cy="3694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0" y="5532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 (web)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app/ai/agents.py · app/api/routers/admin.py · ui/admin_app.py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standalone server records the decision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docker-compose service, not an in-process subprocess — a real, independently testable server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Streamable-HTTP transport, one tool: record_reservation, behind a bearer-token check (MCP_API_KEY)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LangGraph recording node calls it as a real MCP client (langchain-mcp-adapters), just like any other tool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17203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9560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 — written live during this walkthrough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2578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User | TRY-002 | 2026-10-10T10:00:00+03:00 - 2026-10-10T14:00:00+03:00 | 2026-10-05T22:26:44+03:00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mcp_server/server.py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orchestration with LangGraph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graph per chat session: user_agent → admin → record → notification. The admin's decision can take hours, so the admin node pauses the whole conversation (Postgres-checkpointed) and the admin API resumes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379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523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first, then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user agent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7131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8571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886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7715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middleware pause,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Postgres-checkpointed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0323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1763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078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→ notification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0907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on approval,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chat pop-up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ParkingGraph.chat() returns as soon as the graph pauses; ParkingGraph.resume() is called from POST /admin/reservations/{id}/decision, and retries a step that failed.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app/ai/graph.py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as LangGraph draws it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from the compiled graph itself, not drawn by hand. Solid arrows are fixed edges; dotted ones are conditional: after confirm, user_agent routes to admin - any other turn ends.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docs/graph.md also has the user and admin agents' own graphs, where middleware - history summarization, the human-in-the-loop pause - shows up as steps. Regenerate with python -m scripts.export_graph.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scripts/export_graph.py · docs/graph.md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  <p:pic>
        <p:nvPicPr>
          <p:cNvPr id="30" name="ParkingGraph diagram" descr="ParkingGraph rendered by LangGraph: start, user_agent, then either end or admin, record, notification, end"/>
          <p:cNvPicPr>
            <a:picLocks noChangeAspect="1"/>
          </p:cNvPicPr>
          <p:nvPr/>
        </p:nvPicPr>
        <p:blipFill>
          <a:blip r:embed="rIdGraph"/>
          <a:stretch>
            <a:fillRect/>
          </a:stretch>
        </p:blipFill>
        <p:spPr>
          <a:xfrm>
            <a:off x="548640" y="2854625"/>
            <a:ext cx="11091672" cy="14230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for real, not just in theory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integration, e2e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38328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ephemeral Postgres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test run (testcontainers)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21792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Recall@3 on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single-fact questions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05256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pytest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push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spin up the real MCP server as a subprocess and check the exact line it writes — not a mock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evals/report.md: 30 questions incl. 15 hard ones; Evidently: 77% pass every check, no PII; reviewing failures found 2 real bugs, 5 judge errors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load_tests/report.md: chatbot, admin and MCP load-tested with 0 failures; 1,112 MCP writes, none lost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caught a real bug: summarizing long chats sent parallel_tool_calls without tools (HTTP 500) - fixed and covered by a test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· evals/ · load_tests/ · .github/workflows/ci.yml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--env-file .env.development up --build -d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alembic upgrade head, then python -m scripts.ingest_static / ingest_dynamic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Chat: http://localhost:8000/  ·  Admin: http://localhost:8000/admin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51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·  make eval  ·  make load-test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has the full assignment · README.md has the full setup guide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IN ACTION — STATIC INFORMATION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Where is the car park? Answered from the docs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app/ai/tools.py (search_public_rules) · app/db/repositories/milvus.py · data/…/static/*.md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548640" y="1691640"/>
            <a:ext cx="548640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Static info </a:t>
            </a:r>
            <a:r>
              <a:rPr sz="1400" b="0">
                <a:solidFill>
                  <a:schemeClr val="tx1"/>
                </a:solidFill>
                <a:latin typeface="Calibri"/>
              </a:rPr>
              <a:t>(locations, rules, booking process, per-car-park pages) lives in Markdown docs, embedded into Milvus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search_public_rules </a:t>
            </a:r>
            <a:r>
              <a:rPr sz="1400" b="0">
                <a:solidFill>
                  <a:schemeClr val="tx1"/>
                </a:solidFill>
                <a:latin typeface="Calibri"/>
              </a:rPr>
              <a:t>runs a hybrid search: semantic vectors + BM25 keywords, top 3 chunks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Every chunk carries its heading path </a:t>
            </a:r>
            <a:r>
              <a:rPr sz="1400" b="0">
                <a:solidFill>
                  <a:schemeClr val="tx1"/>
                </a:solidFill>
                <a:latin typeface="Calibri"/>
              </a:rPr>
              <a:t>(“# Old Town / ## Location and access”), so the right section is found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The answer cites its sources </a:t>
            </a:r>
            <a:r>
              <a:rPr sz="1400" b="0">
                <a:solidFill>
                  <a:schemeClr val="tx1"/>
                </a:solidFill>
                <a:latin typeface="Calibri"/>
              </a:rPr>
              <a:t>[1], [2] … and lists them under the message</a:t>
            </a:r>
          </a:p>
        </p:txBody>
      </p:sp>
      <p:sp>
        <p:nvSpPr>
          <p:cNvPr id="7" name="Card"/>
          <p:cNvSpPr/>
          <p:nvPr/>
        </p:nvSpPr>
        <p:spPr>
          <a:xfrm>
            <a:off x="6355080" y="1600200"/>
            <a:ext cx="5257800" cy="46634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01-static-location.png" descr="“Where is the Old Town car park and how do I get there?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200" y="1673352"/>
            <a:ext cx="4083558" cy="41056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587959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“Where is the Old Town car park and how do I get there?”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IN ACTION — DYNAMIC INFORMATION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What does it cost on Wednesday? Live from Postgres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app/ai/tools.py (get_parking_info) · app/db/repositories/parking.py · app/ai/middleware.py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548640" y="1691640"/>
            <a:ext cx="548640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Prices, opening hours and capacity </a:t>
            </a:r>
            <a:r>
              <a:rPr sz="1400" b="0">
                <a:solidFill>
                  <a:schemeClr val="tx1"/>
                </a:solidFill>
                <a:latin typeface="Calibri"/>
              </a:rPr>
              <a:t>change, so they are never embedded: get_parking_info reads them from Postgres for the exact date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Weekday and weekend tariffs, </a:t>
            </a:r>
            <a:r>
              <a:rPr sz="1400" b="0">
                <a:solidFill>
                  <a:schemeClr val="tx1"/>
                </a:solidFill>
                <a:latin typeface="Calibri"/>
              </a:rPr>
              <a:t>special hours and capacity overrides are applied per date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“Wednesday” is looked up, not computed: </a:t>
            </a:r>
            <a:r>
              <a:rPr sz="1400" b="0">
                <a:solidFill>
                  <a:schemeClr val="tx1"/>
                </a:solidFill>
                <a:latin typeface="Calibri"/>
              </a:rPr>
              <a:t>the prompt lists the coming 7 days — the model had once resolved Wednesday to a Monday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Free spaces </a:t>
            </a:r>
            <a:r>
              <a:rPr sz="1400" b="0">
                <a:solidFill>
                  <a:schemeClr val="tx1"/>
                </a:solidFill>
                <a:latin typeface="Calibri"/>
              </a:rPr>
              <a:t>come from check_availability — bookable capacity minus overlapping pending and approved reservations</a:t>
            </a:r>
          </a:p>
        </p:txBody>
      </p:sp>
      <p:sp>
        <p:nvSpPr>
          <p:cNvPr id="7" name="Card"/>
          <p:cNvSpPr/>
          <p:nvPr/>
        </p:nvSpPr>
        <p:spPr>
          <a:xfrm>
            <a:off x="6355080" y="1600200"/>
            <a:ext cx="5257800" cy="46634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02-dynamic-prices.png" descr="“What are the prices at the Old Town car park on Wednesday?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200" y="1673352"/>
            <a:ext cx="4083558" cy="41056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587959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“What are the prices at the Old Town car park on Wednesday?”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IN ACTION — BOOKING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Book a space: review first, then confirm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app/ai/tools.py (prepare_reservation) · app/services/parking.py (book) · app/static/chat.js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Card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03-booking-review.png" descr="prepare_reservation’s review: tariff, hours, free sp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65" y="1764792"/>
            <a:ext cx="3856189" cy="38770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742431"/>
            <a:ext cx="516635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prepare_reservation’s review: tariff, hours, free spaces</a:t>
            </a:r>
          </a:p>
        </p:txBody>
      </p:sp>
      <p:sp>
        <p:nvSpPr>
          <p:cNvPr id="9" name="Card"/>
          <p:cNvSpPr/>
          <p:nvPr/>
        </p:nvSpPr>
        <p:spPr>
          <a:xfrm>
            <a:off x="6172200" y="1691640"/>
            <a:ext cx="5349240" cy="44348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04-booking-pending.png" descr="Confirm → saved as pending, awaiting the administra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725" y="1764792"/>
            <a:ext cx="3856189" cy="38770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263640" y="5742431"/>
            <a:ext cx="516635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Confirm → saved as pending, awaiting the administrator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IN ACTION — ADMIN PANEL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The administrator decides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app/ai/agents.py (admin agent) · app/api/routers/admin.py · app/templates/admin.html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Card"/>
          <p:cNvSpPr/>
          <p:nvPr/>
        </p:nvSpPr>
        <p:spPr>
          <a:xfrm>
            <a:off x="548640" y="1600200"/>
            <a:ext cx="6309360" cy="46634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05-admin-panel.png" descr="Admin console: two requests wait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128" y="1673352"/>
            <a:ext cx="5154383" cy="41056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879592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Admin console: two requests waiting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7178040" y="1691640"/>
            <a:ext cx="443484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350" b="1">
                <a:solidFill>
                  <a:schemeClr val="tx1"/>
                </a:solidFill>
                <a:latin typeface="Calibri"/>
              </a:rPr>
              <a:t>The admin agent </a:t>
            </a:r>
            <a:r>
              <a:rPr sz="1350" b="0">
                <a:solidFill>
                  <a:schemeClr val="tx1"/>
                </a:solidFill>
                <a:latin typeface="Calibri"/>
              </a:rPr>
              <a:t>drafts each request’s summary from the stored facts only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350" b="1">
                <a:solidFill>
                  <a:schemeClr val="tx1"/>
                </a:solidFill>
                <a:latin typeface="Calibri"/>
              </a:rPr>
              <a:t>Human in the loop: </a:t>
            </a:r>
            <a:r>
              <a:rPr sz="1350" b="0">
                <a:solidFill>
                  <a:schemeClr val="tx1"/>
                </a:solidFill>
                <a:latin typeface="Calibri"/>
              </a:rPr>
              <a:t>the graph pauses until the administrator approves or rejects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350" b="1">
                <a:solidFill>
                  <a:schemeClr val="tx1"/>
                </a:solidFill>
                <a:latin typeface="Calibri"/>
              </a:rPr>
              <a:t>Protected: </a:t>
            </a:r>
            <a:r>
              <a:rPr sz="1350" b="0">
                <a:solidFill>
                  <a:schemeClr val="tx1"/>
                </a:solidFill>
                <a:latin typeface="Calibri"/>
              </a:rPr>
              <a:t>X-Admin-Key, compared in constant time; 10 wrong keys lock the client out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350" b="1">
                <a:solidFill>
                  <a:schemeClr val="tx1"/>
                </a:solidFill>
                <a:latin typeface="Calibri"/>
              </a:rPr>
              <a:t>Also as a Streamlit app </a:t>
            </a:r>
            <a:r>
              <a:rPr sz="1350" b="0">
                <a:solidFill>
                  <a:schemeClr val="tx1"/>
                </a:solidFill>
                <a:latin typeface="Calibri"/>
              </a:rPr>
              <a:t>(make admin-ui) over the same API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IN ACTION — APPROVED / REJECTED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The customer sees the decision live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app/ai/graph.py (record, notification nodes) · mcp_server/server.py · app/static/chat.js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Card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06-approved-popup.png" descr="Approved: recorded through the MCP server, pop-up in the ch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65" y="1764792"/>
            <a:ext cx="3856189" cy="38770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742431"/>
            <a:ext cx="516635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Approved: recorded through the MCP server, pop-up in the chat</a:t>
            </a:r>
          </a:p>
        </p:txBody>
      </p:sp>
      <p:sp>
        <p:nvSpPr>
          <p:cNvPr id="9" name="Card"/>
          <p:cNvSpPr/>
          <p:nvPr/>
        </p:nvSpPr>
        <p:spPr>
          <a:xfrm>
            <a:off x="6172200" y="1691640"/>
            <a:ext cx="5349240" cy="44348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07-rejected-popup.png" descr="Rejected: the space is released, pop-up in the ch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725" y="1764792"/>
            <a:ext cx="3856189" cy="38770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263640" y="5742431"/>
            <a:ext cx="516635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Rejected: the space is released, pop-up in the chat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GUARDRAILS &amp; PROTECTION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Too many requests? Slowed down, not crashed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app/dependencies.py (cookie_rate_limit, active-user limit, require_admin) · app/config.py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548640" y="1691640"/>
            <a:ext cx="548640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Per chat session: </a:t>
            </a:r>
            <a:r>
              <a:rPr sz="1400" b="0">
                <a:solidFill>
                  <a:schemeClr val="tx1"/>
                </a:solidFill>
                <a:latin typeface="Calibri"/>
              </a:rPr>
              <a:t>at most 2 messages per 10 seconds (RATE_LIMIT_TIMES / RATE_LIMIT_SECONDS) — the third gets HTTP 429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Per service: </a:t>
            </a:r>
            <a:r>
              <a:rPr sz="1400" b="0">
                <a:solidFill>
                  <a:schemeClr val="tx1"/>
                </a:solidFill>
                <a:latin typeface="Calibri"/>
              </a:rPr>
              <a:t>at most 100 active users at once (MAX_ACTIVE_USERS), so one burst can’t starve everyone else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Admin API: </a:t>
            </a:r>
            <a:r>
              <a:rPr sz="1400" b="0">
                <a:solidFill>
                  <a:schemeClr val="tx1"/>
                </a:solidFill>
                <a:latin typeface="Calibri"/>
              </a:rPr>
              <a:t>10 wrong keys from one IP within 5 minutes lock it out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Counters live in Redis, </a:t>
            </a:r>
            <a:r>
              <a:rPr sz="1400" b="0">
                <a:solidFill>
                  <a:schemeClr val="tx1"/>
                </a:solidFill>
                <a:latin typeface="Calibri"/>
              </a:rPr>
              <a:t>so the limits hold across API workers</a:t>
            </a:r>
          </a:p>
        </p:txBody>
      </p:sp>
      <p:sp>
        <p:nvSpPr>
          <p:cNvPr id="7" name="Card"/>
          <p:cNvSpPr/>
          <p:nvPr/>
        </p:nvSpPr>
        <p:spPr>
          <a:xfrm>
            <a:off x="6355080" y="1600200"/>
            <a:ext cx="5257800" cy="46634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08-too-many-requests.png" descr="Three messages within 10 seconds: the third is refus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200" y="1673352"/>
            <a:ext cx="4083558" cy="41056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587959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Three messages within 10 seconds: the third is refused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GUARDRAILS &amp; PROTECTION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Personal emails and phone numbers stay private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app/ai/guardrails.py (PIIGuard, PIIMiddleware) · app/ai/prompts.py · app/ai/tools.py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Card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09-private-contacts.png" descr="Someone else’s email and phone: refus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65" y="1764792"/>
            <a:ext cx="3856189" cy="38770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742431"/>
            <a:ext cx="516635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Someone else’s email and phone: refused</a:t>
            </a:r>
          </a:p>
        </p:txBody>
      </p:sp>
      <p:sp>
        <p:nvSpPr>
          <p:cNvPr id="9" name="Card"/>
          <p:cNvSpPr/>
          <p:nvPr/>
        </p:nvSpPr>
        <p:spPr>
          <a:xfrm>
            <a:off x="6172200" y="1691640"/>
            <a:ext cx="5349240" cy="44348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10-own-contacts.png" descr="Your own email and phone: not stored or repeat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725" y="1764792"/>
            <a:ext cx="3856189" cy="38770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263640" y="5742431"/>
            <a:ext cx="516635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Your own email and phone: not stored or repeated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GUARDRAILS &amp; PROTECTION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The operator’s public contacts are shown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app/ai/guardrails.py · PUBLIC_CONTACTS in .env · data/…/static/general_info.md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548640" y="1691640"/>
            <a:ext cx="548640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PIIGuard redacts </a:t>
            </a:r>
            <a:r>
              <a:rPr sz="1400" b="0">
                <a:solidFill>
                  <a:schemeClr val="tx1"/>
                </a:solidFill>
                <a:latin typeface="Calibri"/>
              </a:rPr>
              <a:t>emails, phone numbers, names, plates and card numbers in search queries, stored chunks and answers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An allow-list, PUBLIC_CONTACTS, </a:t>
            </a:r>
            <a:r>
              <a:rPr sz="1400" b="0">
                <a:solidFill>
                  <a:schemeClr val="tx1"/>
                </a:solidFill>
                <a:latin typeface="Calibri"/>
              </a:rPr>
              <a:t>keeps the operator’s own published phone and email (+370 5 200 0000, info@vilpark.lt)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So “How can I contact support?” </a:t>
            </a:r>
            <a:r>
              <a:rPr sz="1400" b="0">
                <a:solidFill>
                  <a:schemeClr val="tx1"/>
                </a:solidFill>
                <a:latin typeface="Calibri"/>
              </a:rPr>
              <a:t>gets the real contacts, while a customer’s personal details never do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 b="1">
                <a:solidFill>
                  <a:schemeClr val="tx1"/>
                </a:solidFill>
                <a:latin typeface="Calibri"/>
              </a:rPr>
              <a:t>Found by running it: </a:t>
            </a:r>
            <a:r>
              <a:rPr sz="1400" b="0">
                <a:solidFill>
                  <a:schemeClr val="tx1"/>
                </a:solidFill>
                <a:latin typeface="Calibri"/>
              </a:rPr>
              <a:t>the filter once hid the support email too — fixed with the allow-list</a:t>
            </a:r>
          </a:p>
        </p:txBody>
      </p:sp>
      <p:sp>
        <p:nvSpPr>
          <p:cNvPr id="7" name="Card"/>
          <p:cNvSpPr/>
          <p:nvPr/>
        </p:nvSpPr>
        <p:spPr>
          <a:xfrm>
            <a:off x="6355080" y="1600200"/>
            <a:ext cx="5257800" cy="46634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11-public-contacts.png" descr="“How can I contact VilniusPark customer support?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200" y="1673352"/>
            <a:ext cx="4083558" cy="4105655"/>
          </a:xfrm>
          <a:prstGeom prst="rect">
            <a:avLst/>
          </a:prstGeom>
          <a:ln w="9525">
            <a:solidFill>
              <a:srgbClr val="DBE4E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587959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“How can I contact VilniusPark customer support?”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ARCHITECTURE — CLASS RELATIONS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How the classes work together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app/api/routers · app/ai/graph.py · app/ai/agents.py · app/ai/tools.py · app/services/parking.py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Class FastAPI routers"/>
          <p:cNvSpPr/>
          <p:nvPr/>
        </p:nvSpPr>
        <p:spPr>
          <a:xfrm>
            <a:off x="548640" y="1783080"/>
            <a:ext cx="2176272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alibri"/>
              </a:rPr>
              <a:t>FastAPI routers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chat.py · admin.py · pages.py</a:t>
            </a:r>
          </a:p>
        </p:txBody>
      </p:sp>
      <p:sp>
        <p:nvSpPr>
          <p:cNvPr id="7" name="Class ParkingGraph"/>
          <p:cNvSpPr/>
          <p:nvPr/>
        </p:nvSpPr>
        <p:spPr>
          <a:xfrm>
            <a:off x="3520440" y="1783080"/>
            <a:ext cx="2176272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Courier New"/>
              </a:rPr>
              <a:t>ParkingGraph</a:t>
            </a:r>
          </a:p>
          <a:p>
            <a:pPr algn="ctr"/>
            <a:r>
              <a:rPr sz="950" b="0">
                <a:solidFill>
                  <a:srgbClr val="EFF6FF"/>
                </a:solidFill>
                <a:latin typeface="Calibri"/>
              </a:rPr>
              <a:t>StateGraph[ParkingState] · Postgres checkpointer</a:t>
            </a:r>
          </a:p>
        </p:txBody>
      </p:sp>
      <p:sp>
        <p:nvSpPr>
          <p:cNvPr id="8" name="Class user agent"/>
          <p:cNvSpPr/>
          <p:nvPr/>
        </p:nvSpPr>
        <p:spPr>
          <a:xfrm>
            <a:off x="6492240" y="1783080"/>
            <a:ext cx="2176272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user agent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create_agent · UserAgentState · middleware</a:t>
            </a:r>
          </a:p>
        </p:txBody>
      </p:sp>
      <p:sp>
        <p:nvSpPr>
          <p:cNvPr id="9" name="Class PIIGuard"/>
          <p:cNvSpPr/>
          <p:nvPr/>
        </p:nvSpPr>
        <p:spPr>
          <a:xfrm>
            <a:off x="9464040" y="1783080"/>
            <a:ext cx="2176272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PIIGuard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Presidio + spaCy · PUBLIC_CONTACTS</a:t>
            </a:r>
          </a:p>
        </p:txBody>
      </p:sp>
      <p:sp>
        <p:nvSpPr>
          <p:cNvPr id="10" name="Class admin agent"/>
          <p:cNvSpPr/>
          <p:nvPr/>
        </p:nvSpPr>
        <p:spPr>
          <a:xfrm>
            <a:off x="3520440" y="3291840"/>
            <a:ext cx="2176272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admin agent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HumanInTheLoopMiddleware</a:t>
            </a:r>
          </a:p>
        </p:txBody>
      </p:sp>
      <p:sp>
        <p:nvSpPr>
          <p:cNvPr id="11" name="Class tools + ChatContext"/>
          <p:cNvSpPr/>
          <p:nvPr/>
        </p:nvSpPr>
        <p:spPr>
          <a:xfrm>
            <a:off x="6492240" y="3291840"/>
            <a:ext cx="2176272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tools + ChatContext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search_public_rules · get_parking_info · prepare_reservation</a:t>
            </a:r>
          </a:p>
        </p:txBody>
      </p:sp>
      <p:sp>
        <p:nvSpPr>
          <p:cNvPr id="12" name="Class MCP server"/>
          <p:cNvSpPr/>
          <p:nvPr/>
        </p:nvSpPr>
        <p:spPr>
          <a:xfrm>
            <a:off x="548640" y="4846320"/>
            <a:ext cx="2176272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alibri"/>
              </a:rPr>
              <a:t>MCP server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record_reservation · BearerAuth</a:t>
            </a:r>
          </a:p>
        </p:txBody>
      </p:sp>
      <p:sp>
        <p:nvSpPr>
          <p:cNvPr id="13" name="Class ParkingService"/>
          <p:cNvSpPr/>
          <p:nvPr/>
        </p:nvSpPr>
        <p:spPr>
          <a:xfrm>
            <a:off x="3520440" y="4846320"/>
            <a:ext cx="2176272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Courier New"/>
              </a:rPr>
              <a:t>ParkingService</a:t>
            </a:r>
          </a:p>
          <a:p>
            <a:pPr algn="ctr"/>
            <a:r>
              <a:rPr sz="950" b="0">
                <a:solidFill>
                  <a:srgbClr val="EFF6FF"/>
                </a:solidFill>
                <a:latin typeface="Calibri"/>
              </a:rPr>
              <a:t>book · approval_facts · record_decision</a:t>
            </a:r>
          </a:p>
        </p:txBody>
      </p:sp>
      <p:sp>
        <p:nvSpPr>
          <p:cNvPr id="14" name="Class Parking/Reservation Repository"/>
          <p:cNvSpPr/>
          <p:nvPr/>
        </p:nvSpPr>
        <p:spPr>
          <a:xfrm>
            <a:off x="6492240" y="4846320"/>
            <a:ext cx="2176272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Parking/Reservation Repository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Postgres (SQLAlchemy async)</a:t>
            </a:r>
          </a:p>
        </p:txBody>
      </p:sp>
      <p:sp>
        <p:nvSpPr>
          <p:cNvPr id="15" name="Class MilvusRepository"/>
          <p:cNvSpPr/>
          <p:nvPr/>
        </p:nvSpPr>
        <p:spPr>
          <a:xfrm>
            <a:off x="9464040" y="4846320"/>
            <a:ext cx="2176272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MilvusRepository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hybrid search (vectors + BM25)</a:t>
            </a:r>
          </a:p>
        </p:txBody>
      </p:sp>
      <p:cxnSp>
        <p:nvCxnSpPr>
          <p:cNvPr id="16" name="Arrow"/>
          <p:cNvCxnSpPr/>
          <p:nvPr/>
        </p:nvCxnSpPr>
        <p:spPr>
          <a:xfrm>
            <a:off x="2724912" y="2240280"/>
            <a:ext cx="79552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24912" y="1801368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chat() · resume()</a:t>
            </a:r>
          </a:p>
        </p:txBody>
      </p:sp>
      <p:cxnSp>
        <p:nvCxnSpPr>
          <p:cNvPr id="18" name="Arrow"/>
          <p:cNvCxnSpPr/>
          <p:nvPr/>
        </p:nvCxnSpPr>
        <p:spPr>
          <a:xfrm>
            <a:off x="5696712" y="2240280"/>
            <a:ext cx="79552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96712" y="1801368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user_agent node</a:t>
            </a:r>
          </a:p>
        </p:txBody>
      </p:sp>
      <p:cxnSp>
        <p:nvCxnSpPr>
          <p:cNvPr id="20" name="Arrow"/>
          <p:cNvCxnSpPr/>
          <p:nvPr/>
        </p:nvCxnSpPr>
        <p:spPr>
          <a:xfrm>
            <a:off x="8668512" y="2240280"/>
            <a:ext cx="79552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68511" y="1801368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redacts PII</a:t>
            </a:r>
          </a:p>
        </p:txBody>
      </p:sp>
      <p:cxnSp>
        <p:nvCxnSpPr>
          <p:cNvPr id="22" name="Arrow"/>
          <p:cNvCxnSpPr/>
          <p:nvPr/>
        </p:nvCxnSpPr>
        <p:spPr>
          <a:xfrm>
            <a:off x="4608576" y="2697480"/>
            <a:ext cx="0" cy="59436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05656" y="284835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admin node</a:t>
            </a:r>
          </a:p>
        </p:txBody>
      </p:sp>
      <p:cxnSp>
        <p:nvCxnSpPr>
          <p:cNvPr id="24" name="Arrow"/>
          <p:cNvCxnSpPr/>
          <p:nvPr/>
        </p:nvCxnSpPr>
        <p:spPr>
          <a:xfrm>
            <a:off x="7580375" y="2697480"/>
            <a:ext cx="0" cy="59436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94575" y="284835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calls</a:t>
            </a:r>
          </a:p>
        </p:txBody>
      </p:sp>
      <p:cxnSp>
        <p:nvCxnSpPr>
          <p:cNvPr id="26" name="Arrow"/>
          <p:cNvCxnSpPr/>
          <p:nvPr/>
        </p:nvCxnSpPr>
        <p:spPr>
          <a:xfrm>
            <a:off x="4608576" y="4206240"/>
            <a:ext cx="0" cy="64008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51375" y="437997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record node</a:t>
            </a:r>
          </a:p>
        </p:txBody>
      </p:sp>
      <p:cxnSp>
        <p:nvCxnSpPr>
          <p:cNvPr id="28" name="Arrow"/>
          <p:cNvCxnSpPr/>
          <p:nvPr/>
        </p:nvCxnSpPr>
        <p:spPr>
          <a:xfrm flipH="1">
            <a:off x="5696712" y="4206240"/>
            <a:ext cx="795528" cy="64008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10527" y="4315968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64748B"/>
                </a:solidFill>
                <a:latin typeface="Calibri"/>
              </a:rPr>
              <a:t>ChatContext
.parking_service</a:t>
            </a:r>
          </a:p>
        </p:txBody>
      </p:sp>
      <p:cxnSp>
        <p:nvCxnSpPr>
          <p:cNvPr id="30" name="Arrow"/>
          <p:cNvCxnSpPr/>
          <p:nvPr/>
        </p:nvCxnSpPr>
        <p:spPr>
          <a:xfrm>
            <a:off x="8668512" y="4206240"/>
            <a:ext cx="795528" cy="64008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63356" y="433425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vector search</a:t>
            </a:r>
          </a:p>
        </p:txBody>
      </p:sp>
      <p:cxnSp>
        <p:nvCxnSpPr>
          <p:cNvPr id="32" name="Arrow"/>
          <p:cNvCxnSpPr/>
          <p:nvPr/>
        </p:nvCxnSpPr>
        <p:spPr>
          <a:xfrm>
            <a:off x="5696712" y="5303520"/>
            <a:ext cx="79552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96712" y="4864607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reads / writes</a:t>
            </a:r>
          </a:p>
        </p:txBody>
      </p:sp>
      <p:cxnSp>
        <p:nvCxnSpPr>
          <p:cNvPr id="34" name="Arrow"/>
          <p:cNvCxnSpPr/>
          <p:nvPr/>
        </p:nvCxnSpPr>
        <p:spPr>
          <a:xfrm flipH="1">
            <a:off x="2724912" y="5303520"/>
            <a:ext cx="79552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724912" y="4864607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MCP client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3337560"/>
            <a:ext cx="217627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64748B"/>
                </a:solidFill>
                <a:latin typeface="Calibri"/>
              </a:rPr>
              <a:t>Blue: the two classes everything goes through. Arrows: “calls / uses”. ParkingService is created per request, ParkingGraph once at startup.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ARCHITECTURE — CLASS RELATIONS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Repositories and the data model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app/db/repositories/*.py · app/db/models/*.py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64748B"/>
                </a:solidFill>
                <a:latin typeface="Calibri"/>
              </a:rPr>
              <a:t>Repositories — arrows point to the parent class</a:t>
            </a:r>
          </a:p>
        </p:txBody>
      </p:sp>
      <p:sp>
        <p:nvSpPr>
          <p:cNvPr id="7" name="Class AbstractSQLRepository"/>
          <p:cNvSpPr/>
          <p:nvPr/>
        </p:nvSpPr>
        <p:spPr>
          <a:xfrm>
            <a:off x="548640" y="192024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AbstractSQLRepository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generic CRUD interface</a:t>
            </a:r>
          </a:p>
        </p:txBody>
      </p:sp>
      <p:sp>
        <p:nvSpPr>
          <p:cNvPr id="8" name="Class SQLAlchemyRepository"/>
          <p:cNvSpPr/>
          <p:nvPr/>
        </p:nvSpPr>
        <p:spPr>
          <a:xfrm>
            <a:off x="548640" y="297180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SQLAlchemyRepository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async session CRUD</a:t>
            </a:r>
          </a:p>
        </p:txBody>
      </p:sp>
      <p:sp>
        <p:nvSpPr>
          <p:cNvPr id="9" name="Class PostgresRepository"/>
          <p:cNvSpPr/>
          <p:nvPr/>
        </p:nvSpPr>
        <p:spPr>
          <a:xfrm>
            <a:off x="548640" y="402336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PostgresRepository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row locks · upserts</a:t>
            </a:r>
          </a:p>
        </p:txBody>
      </p:sp>
      <p:sp>
        <p:nvSpPr>
          <p:cNvPr id="10" name="Class ParkingRepository"/>
          <p:cNvSpPr/>
          <p:nvPr/>
        </p:nvSpPr>
        <p:spPr>
          <a:xfrm>
            <a:off x="548640" y="512064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Courier New"/>
              </a:rPr>
              <a:t>ParkingRepository</a:t>
            </a:r>
          </a:p>
          <a:p>
            <a:pPr algn="ctr"/>
            <a:r>
              <a:rPr sz="950" b="0">
                <a:solidFill>
                  <a:srgbClr val="EFF6FF"/>
                </a:solidFill>
                <a:latin typeface="Calibri"/>
              </a:rPr>
              <a:t>hours · prices · availability</a:t>
            </a:r>
          </a:p>
        </p:txBody>
      </p:sp>
      <p:sp>
        <p:nvSpPr>
          <p:cNvPr id="11" name="Class ReservationRepository"/>
          <p:cNvSpPr/>
          <p:nvPr/>
        </p:nvSpPr>
        <p:spPr>
          <a:xfrm>
            <a:off x="3291840" y="512064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Courier New"/>
              </a:rPr>
              <a:t>ReservationRepository</a:t>
            </a:r>
          </a:p>
          <a:p>
            <a:pPr algn="ctr"/>
            <a:r>
              <a:rPr sz="950" b="0">
                <a:solidFill>
                  <a:srgbClr val="EFF6FF"/>
                </a:solidFill>
                <a:latin typeface="Calibri"/>
              </a:rPr>
              <a:t>pending → approved / rejected</a:t>
            </a:r>
          </a:p>
        </p:txBody>
      </p:sp>
      <p:sp>
        <p:nvSpPr>
          <p:cNvPr id="12" name="Class AbstractVectorRepository"/>
          <p:cNvSpPr/>
          <p:nvPr/>
        </p:nvSpPr>
        <p:spPr>
          <a:xfrm>
            <a:off x="3291840" y="192024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AbstractVectorRepository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add · search · delete</a:t>
            </a:r>
          </a:p>
        </p:txBody>
      </p:sp>
      <p:sp>
        <p:nvSpPr>
          <p:cNvPr id="13" name="Class MilvusRepository"/>
          <p:cNvSpPr/>
          <p:nvPr/>
        </p:nvSpPr>
        <p:spPr>
          <a:xfrm>
            <a:off x="3291840" y="297180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Courier New"/>
              </a:rPr>
              <a:t>MilvusRepository</a:t>
            </a:r>
          </a:p>
          <a:p>
            <a:pPr algn="ctr"/>
            <a:r>
              <a:rPr sz="950" b="0">
                <a:solidFill>
                  <a:srgbClr val="EFF6FF"/>
                </a:solidFill>
                <a:latin typeface="Calibri"/>
              </a:rPr>
              <a:t>hybrid / semantic / keyword</a:t>
            </a:r>
          </a:p>
        </p:txBody>
      </p:sp>
      <p:sp>
        <p:nvSpPr>
          <p:cNvPr id="14" name="Class ChatThreadRepository"/>
          <p:cNvSpPr/>
          <p:nvPr/>
        </p:nvSpPr>
        <p:spPr>
          <a:xfrm>
            <a:off x="3291840" y="4023360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ChatThreadRepository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idle-thread cleanup</a:t>
            </a:r>
          </a:p>
        </p:txBody>
      </p:sp>
      <p:cxnSp>
        <p:nvCxnSpPr>
          <p:cNvPr id="15" name="Arrow"/>
          <p:cNvCxnSpPr/>
          <p:nvPr/>
        </p:nvCxnSpPr>
        <p:spPr>
          <a:xfrm flipV="1">
            <a:off x="1805940" y="2697480"/>
            <a:ext cx="0" cy="27432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Arrow"/>
          <p:cNvCxnSpPr/>
          <p:nvPr/>
        </p:nvCxnSpPr>
        <p:spPr>
          <a:xfrm flipV="1">
            <a:off x="1805940" y="3749039"/>
            <a:ext cx="0" cy="274321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Arrow"/>
          <p:cNvCxnSpPr/>
          <p:nvPr/>
        </p:nvCxnSpPr>
        <p:spPr>
          <a:xfrm flipV="1">
            <a:off x="1805940" y="4800600"/>
            <a:ext cx="0" cy="32004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rrow"/>
          <p:cNvCxnSpPr/>
          <p:nvPr/>
        </p:nvCxnSpPr>
        <p:spPr>
          <a:xfrm flipV="1">
            <a:off x="4549140" y="2697480"/>
            <a:ext cx="0" cy="27432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Arrow"/>
          <p:cNvCxnSpPr/>
          <p:nvPr/>
        </p:nvCxnSpPr>
        <p:spPr>
          <a:xfrm flipH="1" flipV="1">
            <a:off x="3063240" y="4617720"/>
            <a:ext cx="228600" cy="68580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0" y="15544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64748B"/>
                </a:solidFill>
                <a:latin typeface="Calibri"/>
              </a:rPr>
              <a:t>Data model (SQLAlchemy) — one Parking has many of each</a:t>
            </a:r>
          </a:p>
        </p:txBody>
      </p:sp>
      <p:sp>
        <p:nvSpPr>
          <p:cNvPr id="21" name="Class Parking"/>
          <p:cNvSpPr/>
          <p:nvPr/>
        </p:nvSpPr>
        <p:spPr>
          <a:xfrm>
            <a:off x="6400800" y="324612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Courier New"/>
              </a:rPr>
              <a:t>Parking</a:t>
            </a:r>
          </a:p>
          <a:p>
            <a:pPr algn="ctr"/>
            <a:r>
              <a:rPr sz="950" b="0">
                <a:solidFill>
                  <a:srgbClr val="EFF6FF"/>
                </a:solidFill>
                <a:latin typeface="Calibri"/>
              </a:rPr>
              <a:t>a car park</a:t>
            </a:r>
          </a:p>
        </p:txBody>
      </p:sp>
      <p:sp>
        <p:nvSpPr>
          <p:cNvPr id="22" name="Class ParkingSpaceType"/>
          <p:cNvSpPr/>
          <p:nvPr/>
        </p:nvSpPr>
        <p:spPr>
          <a:xfrm>
            <a:off x="9281160" y="1874519"/>
            <a:ext cx="2331720" cy="62179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ParkingSpaceType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standard / EV · capacity</a:t>
            </a:r>
          </a:p>
        </p:txBody>
      </p:sp>
      <p:cxnSp>
        <p:nvCxnSpPr>
          <p:cNvPr id="23" name="Arrow"/>
          <p:cNvCxnSpPr/>
          <p:nvPr/>
        </p:nvCxnSpPr>
        <p:spPr>
          <a:xfrm flipV="1">
            <a:off x="8412480" y="2185415"/>
            <a:ext cx="868680" cy="1563624"/>
          </a:xfrm>
          <a:prstGeom prst="line">
            <a:avLst/>
          </a:prstGeom>
          <a:ln w="19050">
            <a:solidFill>
              <a:srgbClr val="64748B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lass WorkingHours"/>
          <p:cNvSpPr/>
          <p:nvPr/>
        </p:nvSpPr>
        <p:spPr>
          <a:xfrm>
            <a:off x="9281160" y="2606039"/>
            <a:ext cx="2331720" cy="62179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WorkingHours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per weekday</a:t>
            </a:r>
          </a:p>
        </p:txBody>
      </p:sp>
      <p:cxnSp>
        <p:nvCxnSpPr>
          <p:cNvPr id="25" name="Arrow"/>
          <p:cNvCxnSpPr/>
          <p:nvPr/>
        </p:nvCxnSpPr>
        <p:spPr>
          <a:xfrm flipV="1">
            <a:off x="8412480" y="2916935"/>
            <a:ext cx="868680" cy="832104"/>
          </a:xfrm>
          <a:prstGeom prst="line">
            <a:avLst/>
          </a:prstGeom>
          <a:ln w="19050">
            <a:solidFill>
              <a:srgbClr val="64748B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lass SpecialHours"/>
          <p:cNvSpPr/>
          <p:nvPr/>
        </p:nvSpPr>
        <p:spPr>
          <a:xfrm>
            <a:off x="9281160" y="3337560"/>
            <a:ext cx="2331720" cy="62179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SpecialHours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holidays, closures</a:t>
            </a:r>
          </a:p>
        </p:txBody>
      </p:sp>
      <p:cxnSp>
        <p:nvCxnSpPr>
          <p:cNvPr id="27" name="Arrow"/>
          <p:cNvCxnSpPr/>
          <p:nvPr/>
        </p:nvCxnSpPr>
        <p:spPr>
          <a:xfrm flipV="1">
            <a:off x="8412480" y="3648456"/>
            <a:ext cx="868680" cy="100583"/>
          </a:xfrm>
          <a:prstGeom prst="line">
            <a:avLst/>
          </a:prstGeom>
          <a:ln w="19050">
            <a:solidFill>
              <a:srgbClr val="64748B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lass Price"/>
          <p:cNvSpPr/>
          <p:nvPr/>
        </p:nvSpPr>
        <p:spPr>
          <a:xfrm>
            <a:off x="9281160" y="4069080"/>
            <a:ext cx="2331720" cy="62179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Price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per space type, day type</a:t>
            </a:r>
          </a:p>
        </p:txBody>
      </p:sp>
      <p:cxnSp>
        <p:nvCxnSpPr>
          <p:cNvPr id="29" name="Arrow"/>
          <p:cNvCxnSpPr/>
          <p:nvPr/>
        </p:nvCxnSpPr>
        <p:spPr>
          <a:xfrm>
            <a:off x="8412480" y="3749039"/>
            <a:ext cx="868680" cy="630937"/>
          </a:xfrm>
          <a:prstGeom prst="line">
            <a:avLst/>
          </a:prstGeom>
          <a:ln w="19050">
            <a:solidFill>
              <a:srgbClr val="64748B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lass CapacityOverride"/>
          <p:cNvSpPr/>
          <p:nvPr/>
        </p:nvSpPr>
        <p:spPr>
          <a:xfrm>
            <a:off x="9281160" y="4800600"/>
            <a:ext cx="2331720" cy="62179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CapacityOverride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temporary capacity</a:t>
            </a:r>
          </a:p>
        </p:txBody>
      </p:sp>
      <p:cxnSp>
        <p:nvCxnSpPr>
          <p:cNvPr id="31" name="Arrow"/>
          <p:cNvCxnSpPr/>
          <p:nvPr/>
        </p:nvCxnSpPr>
        <p:spPr>
          <a:xfrm>
            <a:off x="8412480" y="3749039"/>
            <a:ext cx="868680" cy="1362457"/>
          </a:xfrm>
          <a:prstGeom prst="line">
            <a:avLst/>
          </a:prstGeom>
          <a:ln w="19050">
            <a:solidFill>
              <a:srgbClr val="64748B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lass Reservation"/>
          <p:cNvSpPr/>
          <p:nvPr/>
        </p:nvSpPr>
        <p:spPr>
          <a:xfrm>
            <a:off x="9281160" y="5532120"/>
            <a:ext cx="2331720" cy="62179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32257"/>
                </a:solidFill>
                <a:latin typeface="Courier New"/>
              </a:rPr>
              <a:t>Reservation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Calibri"/>
              </a:rPr>
              <a:t>per space type</a:t>
            </a:r>
          </a:p>
        </p:txBody>
      </p:sp>
      <p:cxnSp>
        <p:nvCxnSpPr>
          <p:cNvPr id="33" name="Arrow"/>
          <p:cNvCxnSpPr/>
          <p:nvPr/>
        </p:nvCxnSpPr>
        <p:spPr>
          <a:xfrm>
            <a:off x="8412480" y="3749039"/>
            <a:ext cx="868680" cy="2093977"/>
          </a:xfrm>
          <a:prstGeom prst="line">
            <a:avLst/>
          </a:prstGeom>
          <a:ln w="19050">
            <a:solidFill>
              <a:srgbClr val="64748B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00800" y="4434840"/>
            <a:ext cx="187451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64748B"/>
                </a:solidFill>
                <a:latin typeface="Calibri"/>
              </a:rPr>
              <a:t>ParkingSpaceType in turn has many Prices, Reservations and CapacityOverrides — availability is counted per space type.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200">
                <a:solidFill>
                  <a:schemeClr val="accent1"/>
                </a:solidFill>
                <a:latin typeface="Calibri"/>
              </a:rPr>
              <a:t>TEST RESULTS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chemeClr val="tx1"/>
                </a:solidFill>
                <a:latin typeface="Cambria"/>
              </a:rPr>
              <a:t>Evaluation: 30 questions, 15 of them hard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tx2"/>
                </a:solidFill>
                <a:latin typeface="Calibri"/>
              </a:rPr>
              <a:t>evals/report.md · evals/evidently_report.html · evals/golden_qa.json</a:t>
            </a:r>
          </a:p>
        </p:txBody>
      </p:sp>
      <p:sp>
        <p:nvSpPr>
          <p:cNvPr id="5" name="Footer brand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chemeClr val="tx2"/>
                </a:solidFill>
                <a:latin typeface="Calibri"/>
              </a:rPr>
              <a:t>VilniusPark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>
                <a:solidFill>
                  <a:srgbClr val="64748B"/>
                </a:solidFill>
                <a:latin typeface="Calibri"/>
              </a:rPr>
              <a:t>Retrieval — 23 answerable questions, K=3, hybrid search</a:t>
            </a:r>
          </a:p>
        </p:txBody>
      </p:sp>
      <p:sp>
        <p:nvSpPr>
          <p:cNvPr id="7" name="Card"/>
          <p:cNvSpPr/>
          <p:nvPr/>
        </p:nvSpPr>
        <p:spPr>
          <a:xfrm>
            <a:off x="548640" y="1965960"/>
            <a:ext cx="1554480" cy="13258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554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>
                <a:solidFill>
                  <a:schemeClr val="accent1"/>
                </a:solidFill>
                <a:latin typeface="Cambria"/>
              </a:rPr>
              <a:t>0.96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Recall@3</a:t>
            </a:r>
          </a:p>
        </p:txBody>
      </p:sp>
      <p:sp>
        <p:nvSpPr>
          <p:cNvPr id="10" name="Card"/>
          <p:cNvSpPr/>
          <p:nvPr/>
        </p:nvSpPr>
        <p:spPr>
          <a:xfrm>
            <a:off x="2240280" y="1965960"/>
            <a:ext cx="1554480" cy="13258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0280" y="2057400"/>
            <a:ext cx="1554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>
                <a:solidFill>
                  <a:schemeClr val="accent2"/>
                </a:solidFill>
                <a:latin typeface="Cambria"/>
              </a:rPr>
              <a:t>0.91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74320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MRR</a:t>
            </a:r>
          </a:p>
        </p:txBody>
      </p:sp>
      <p:sp>
        <p:nvSpPr>
          <p:cNvPr id="13" name="Card"/>
          <p:cNvSpPr/>
          <p:nvPr/>
        </p:nvSpPr>
        <p:spPr>
          <a:xfrm>
            <a:off x="3931920" y="1965960"/>
            <a:ext cx="1554480" cy="13258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</a:ln>
          <a:effectLst>
            <a:outerShdw blurRad="127000" dist="38100" dir="5400000" algn="bl" rotWithShape="0">
              <a:srgbClr val="17203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057400"/>
            <a:ext cx="1554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>
                <a:solidFill>
                  <a:schemeClr val="accent4"/>
                </a:solidFill>
                <a:latin typeface="Cambria"/>
              </a:rPr>
              <a:t>0.87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74320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chemeClr val="tx2"/>
                </a:solidFill>
                <a:latin typeface="Calibri"/>
              </a:rPr>
              <a:t>Precision@1</a:t>
            </a:r>
          </a:p>
        </p:txBody>
      </p:sp>
      <p:sp>
        <p:nvSpPr>
          <p:cNvPr id="16" name="Bullets"/>
          <p:cNvSpPr txBox="1"/>
          <p:nvPr/>
        </p:nvSpPr>
        <p:spPr>
          <a:xfrm>
            <a:off x="548640" y="361188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250" b="1">
                <a:solidFill>
                  <a:schemeClr val="tx1"/>
                </a:solidFill>
                <a:latin typeface="Calibri"/>
              </a:rPr>
              <a:t>Answer quality </a:t>
            </a:r>
            <a:r>
              <a:rPr sz="1250" b="0">
                <a:solidFill>
                  <a:schemeClr val="tx1"/>
                </a:solidFill>
                <a:latin typeface="Calibri"/>
              </a:rPr>
              <a:t>(Evidently LLM judges): faithfulness 83%, completeness 87%, no personal data in any answer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250" b="1">
                <a:solidFill>
                  <a:schemeClr val="tx1"/>
                </a:solidFill>
                <a:latin typeface="Calibri"/>
              </a:rPr>
              <a:t>77% of all questions pass every check. </a:t>
            </a:r>
            <a:r>
              <a:rPr sz="1250" b="0">
                <a:solidFill>
                  <a:schemeClr val="tx1"/>
                </a:solidFill>
                <a:latin typeface="Calibri"/>
              </a:rPr>
              <a:t>Reviewing each failure: most are judge errors, a few are real bugs — kept visible, not tuned away</a:t>
            </a:r>
          </a:p>
        </p:txBody>
      </p:sp>
      <p:graphicFrame>
        <p:nvGraphicFramePr>
          <p:cNvPr id="17" name="Evaluation by category"/>
          <p:cNvGraphicFramePr>
            <a:graphicFrameLocks noGrp="1"/>
          </p:cNvGraphicFramePr>
          <p:nvPr/>
        </p:nvGraphicFramePr>
        <p:xfrm>
          <a:off x="5852160" y="1600200"/>
          <a:ext cx="57607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VilniusPark">
  <a:themeElements>
    <a:clrScheme name="VilniusPark">
      <a:dk1>
        <a:srgbClr val="172033"/>
      </a:dk1>
      <a:lt1>
        <a:srgbClr val="FFFFFF"/>
      </a:lt1>
      <a:dk2>
        <a:srgbClr val="132257"/>
      </a:dk2>
      <a:lt2>
        <a:srgbClr val="EFF6FF"/>
      </a:lt2>
      <a:accent1>
        <a:srgbClr val="2563EB"/>
      </a:accent1>
      <a:accent2>
        <a:srgbClr val="0EA5E9"/>
      </a:accent2>
      <a:accent3>
        <a:srgbClr val="F59E0B"/>
      </a:accent3>
      <a:accent4>
        <a:srgbClr val="10B981"/>
      </a:accent4>
      <a:accent5>
        <a:srgbClr val="EF4444"/>
      </a:accent5>
      <a:accent6>
        <a:srgbClr val="64748B"/>
      </a:accent6>
      <a:hlink>
        <a:srgbClr val="2563EB"/>
      </a:hlink>
      <a:folHlink>
        <a:srgbClr val="1D4ED8"/>
      </a:folHlink>
    </a:clrScheme>
    <a:fontScheme name="VilniusPa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VilniusPark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2026-10-06T11:29:51Z</dcterms:created>
  <dcterms:modified xsi:type="dcterms:W3CDTF">2026-10-06T11:29:51Z</dcterms:modified>
</cp:coreProperties>
</file>