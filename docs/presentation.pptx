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a9fe0de1-f20d-65b0-7541-18c2297b6454}">
          <p14:sldIdLst>
            <p14:sldId id="256"/>
            <p14:sldId id="257"/>
            <p14:sldId id="258"/>
          </p14:sldIdLst>
        </p14:section>
        <p14:section name="Stage 1 — RAG" id="{1bf7d64f-2d2a-bbea-b722-6da16dc4a3e0}">
          <p14:sldIdLst>
            <p14:sldId id="259"/>
            <p14:sldId id="260"/>
          </p14:sldIdLst>
        </p14:section>
        <p14:section name="In action" id="{7c54c093-785d-d71d-0380-739f193160c2}">
          <p14:sldIdLst>
            <p14:sldId id="261"/>
            <p14:sldId id="262"/>
          </p14:sldIdLst>
        </p14:section>
        <p14:section name="Stage 2 — Human-in-the-loop" id="{01fe570f-62dd-105d-bf09-e1c915b932ef}">
          <p14:sldIdLst>
            <p14:sldId id="263"/>
          </p14:sldIdLst>
        </p14:section>
        <p14:section name="Stage 3 — MCP server" id="{f8446826-963b-7aa1-e230-150140159f42}">
          <p14:sldIdLst>
            <p14:sldId id="264"/>
          </p14:sldIdLst>
        </p14:section>
        <p14:section name="Stage 4 — Orchestration" id="{d494e626-e859-4659-bcd9-a977fb10b207}">
          <p14:sldIdLst>
            <p14:sldId id="265"/>
          </p14:sldIdLst>
        </p14:section>
        <p14:section name="Testing" id="{16bf9296-67c8-c460-474d-6822690e8f76}">
          <p14:sldIdLst>
            <p14:sldId id="266"/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image" Target="../media/image-6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1031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ENGINEERING: FAST TRACK — COURSE PROJECT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468880"/>
            <a:ext cx="98755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VilniusPark Parking</a:t>
            </a:r>
            <a:endParaRPr lang="en-US" sz="4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Reservation Chatbot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251960"/>
            <a:ext cx="8961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RAG chatbot that answers questions, collects reservations, routes each one through a human administrator, and records approvals through an MCP server — orchestrated end to end with LangGraph.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0807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1 RAG · Stage 2 Human-in-the-loop · Stage 3 MCP server · Stage 4 LangGraph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ASSIGNMENT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stages, one pipeline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0020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stage is gradable on its own, but they hand off to each other: a reservation only reaches the MCP server after a human has approved it, and the whole chain is wired together with LangGraph.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514600"/>
            <a:ext cx="2542032" cy="3108960"/>
          </a:xfrm>
          <a:prstGeom prst="roundRect">
            <a:avLst>
              <a:gd name="adj" fmla="val 4317"/>
            </a:avLst>
          </a:prstGeom>
          <a:solidFill>
            <a:schemeClr val="bg2"/>
          </a:solidFill>
          <a:ln/>
          <a:effectLst>
            <a:outerShdw sx="100000" sy="100000" kx="0" ky="0" algn="bl" rotWithShape="0" blurRad="101600" dist="38100" dir="5400000">
              <a:srgbClr val="172033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22960" y="2807208"/>
            <a:ext cx="548640" cy="548640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" y="280720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520440"/>
            <a:ext cx="1993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Chatbot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3977640"/>
            <a:ext cx="199339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retrieval over Milvus + Postgres, with guardrails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3383280" y="2514600"/>
            <a:ext cx="2542032" cy="3108960"/>
          </a:xfrm>
          <a:prstGeom prst="roundRect">
            <a:avLst>
              <a:gd name="adj" fmla="val 4317"/>
            </a:avLst>
          </a:prstGeom>
          <a:solidFill>
            <a:schemeClr val="bg2"/>
          </a:solidFill>
          <a:ln/>
          <a:effectLst>
            <a:outerShdw sx="100000" sy="100000" kx="0" ky="0" algn="bl" rotWithShape="0" blurRad="101600" dist="38100" dir="5400000">
              <a:srgbClr val="172033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0" y="2807208"/>
            <a:ext cx="548640" cy="5486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657600" y="280720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3657600" y="3520440"/>
            <a:ext cx="1993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Human-in-the-loop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3977640"/>
            <a:ext cx="199339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HITL agent pauses each booking for the admin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217920" y="2514600"/>
            <a:ext cx="2542032" cy="3108960"/>
          </a:xfrm>
          <a:prstGeom prst="roundRect">
            <a:avLst>
              <a:gd name="adj" fmla="val 4317"/>
            </a:avLst>
          </a:prstGeom>
          <a:solidFill>
            <a:schemeClr val="bg2"/>
          </a:solidFill>
          <a:ln/>
          <a:effectLst>
            <a:outerShdw sx="100000" sy="100000" kx="0" ky="0" algn="bl" rotWithShape="0" blurRad="101600" dist="38100" dir="5400000">
              <a:srgbClr val="172033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492240" y="2807208"/>
            <a:ext cx="548640" cy="5486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492240" y="280720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200" dirty="0"/>
          </a:p>
        </p:txBody>
      </p:sp>
      <p:sp>
        <p:nvSpPr>
          <p:cNvPr id="18" name="Text 16"/>
          <p:cNvSpPr txBox="1"/>
          <p:nvPr/>
        </p:nvSpPr>
        <p:spPr>
          <a:xfrm>
            <a:off x="6492240" y="3520440"/>
            <a:ext cx="1993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Server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6492240" y="3977640"/>
            <a:ext cx="199339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Records approved reservations to a file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9052560" y="2514600"/>
            <a:ext cx="2542032" cy="3108960"/>
          </a:xfrm>
          <a:prstGeom prst="roundRect">
            <a:avLst>
              <a:gd name="adj" fmla="val 4317"/>
            </a:avLst>
          </a:prstGeom>
          <a:solidFill>
            <a:schemeClr val="bg2"/>
          </a:solidFill>
          <a:ln/>
          <a:effectLst>
            <a:outerShdw sx="100000" sy="100000" kx="0" ky="0" algn="bl" rotWithShape="0" blurRad="101600" dist="38100" dir="5400000">
              <a:srgbClr val="172033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9326880" y="2807208"/>
            <a:ext cx="548640" cy="5486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9326880" y="280720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200" dirty="0"/>
          </a:p>
        </p:txBody>
      </p:sp>
      <p:sp>
        <p:nvSpPr>
          <p:cNvPr id="23" name="Text 21"/>
          <p:cNvSpPr txBox="1"/>
          <p:nvPr/>
        </p:nvSpPr>
        <p:spPr>
          <a:xfrm>
            <a:off x="9326880" y="3520440"/>
            <a:ext cx="1993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LangGraph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9326880" y="3977640"/>
            <a:ext cx="199339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checkpointed graph ties stages 1–3 together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docs/SPECIFICATION.md — EPAM AI Engineering: Fast Track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8897112" y="64739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VilniusPark Chatbot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pipeline, four stages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103120"/>
            <a:ext cx="1645920" cy="1051560"/>
          </a:xfrm>
          <a:prstGeom prst="roundRect">
            <a:avLst>
              <a:gd name="adj" fmla="val 8696"/>
            </a:avLst>
          </a:prstGeom>
          <a:solidFill>
            <a:srgbClr val="2563EB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21792" y="2194560"/>
            <a:ext cx="14996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523744"/>
            <a:ext cx="146304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UI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2194560" y="2628900"/>
            <a:ext cx="182880" cy="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2377440" y="2103120"/>
            <a:ext cx="1645920" cy="1051560"/>
          </a:xfrm>
          <a:prstGeom prst="roundRect">
            <a:avLst>
              <a:gd name="adj" fmla="val 8696"/>
            </a:avLst>
          </a:prstGeom>
          <a:solidFill>
            <a:srgbClr val="132257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2450592" y="2194560"/>
            <a:ext cx="14996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/chat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2468880" y="2523744"/>
            <a:ext cx="146304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user_agent node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023360" y="2628900"/>
            <a:ext cx="182880" cy="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4206240" y="2103120"/>
            <a:ext cx="1645920" cy="1051560"/>
          </a:xfrm>
          <a:prstGeom prst="roundRect">
            <a:avLst>
              <a:gd name="adj" fmla="val 8696"/>
            </a:avLst>
          </a:prstGeom>
          <a:solidFill>
            <a:srgbClr val="0EA5E9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279392" y="2194560"/>
            <a:ext cx="14996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Milvus +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4297680" y="2523744"/>
            <a:ext cx="146304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+ dynamic data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852160" y="2628900"/>
            <a:ext cx="182880" cy="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6035040" y="2103120"/>
            <a:ext cx="1645920" cy="1051560"/>
          </a:xfrm>
          <a:prstGeom prst="roundRect">
            <a:avLst>
              <a:gd name="adj" fmla="val 8696"/>
            </a:avLst>
          </a:prstGeom>
          <a:solidFill>
            <a:srgbClr val="F59E0B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108192" y="2194560"/>
            <a:ext cx="14996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prepare_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reservation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126480" y="2523744"/>
            <a:ext cx="146304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= pending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680960" y="2628900"/>
            <a:ext cx="182880" cy="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7863840" y="2103120"/>
            <a:ext cx="1645920" cy="1051560"/>
          </a:xfrm>
          <a:prstGeom prst="roundRect">
            <a:avLst>
              <a:gd name="adj" fmla="val 8696"/>
            </a:avLst>
          </a:prstGeom>
          <a:solidFill>
            <a:srgbClr val="132257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936992" y="2194560"/>
            <a:ext cx="14996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node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7955280" y="2523744"/>
            <a:ext cx="146304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HITL pause · checkpointed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9509760" y="2628900"/>
            <a:ext cx="182880" cy="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9692640" y="2103120"/>
            <a:ext cx="1645920" cy="1051560"/>
          </a:xfrm>
          <a:prstGeom prst="roundRect">
            <a:avLst>
              <a:gd name="adj" fmla="val 8696"/>
            </a:avLst>
          </a:prstGeom>
          <a:solidFill>
            <a:srgbClr val="2563EB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9765792" y="2194560"/>
            <a:ext cx="14996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Administrator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9784080" y="2523744"/>
            <a:ext cx="146304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/admin/* API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10515600" y="3154680"/>
            <a:ext cx="0" cy="50292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9692640" y="3657600"/>
            <a:ext cx="1645920" cy="1051560"/>
          </a:xfrm>
          <a:prstGeom prst="roundRect">
            <a:avLst>
              <a:gd name="adj" fmla="val 8696"/>
            </a:avLst>
          </a:prstGeom>
          <a:solidFill>
            <a:srgbClr val="10B981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9765792" y="3749040"/>
            <a:ext cx="14996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server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9784080" y="4078224"/>
            <a:ext cx="146304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record_reservation()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7863840" y="3657600"/>
            <a:ext cx="1645920" cy="1051560"/>
          </a:xfrm>
          <a:prstGeom prst="roundRect">
            <a:avLst>
              <a:gd name="adj" fmla="val 8696"/>
            </a:avLst>
          </a:prstGeom>
          <a:solidFill>
            <a:srgbClr val="172033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936992" y="3749040"/>
            <a:ext cx="14996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7955280" y="4078224"/>
            <a:ext cx="146304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approved_reservations.txt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9509760" y="4183380"/>
            <a:ext cx="182880" cy="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35" name="Shape 33"/>
          <p:cNvSpPr/>
          <p:nvPr/>
        </p:nvSpPr>
        <p:spPr>
          <a:xfrm>
            <a:off x="8686800" y="4709160"/>
            <a:ext cx="0" cy="45720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36" name="Shape 34"/>
          <p:cNvSpPr/>
          <p:nvPr/>
        </p:nvSpPr>
        <p:spPr>
          <a:xfrm>
            <a:off x="548640" y="5166360"/>
            <a:ext cx="8961120" cy="594360"/>
          </a:xfrm>
          <a:prstGeom prst="roundRect">
            <a:avLst>
              <a:gd name="adj" fmla="val 15385"/>
            </a:avLst>
          </a:prstGeom>
          <a:solidFill>
            <a:srgbClr val="64748B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621792" y="5166360"/>
            <a:ext cx="88148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 node sets approved / rejected — notification node pops the outcome up in the chat</a:t>
            </a:r>
            <a:endParaRPr lang="en-US" sz="1300" dirty="0"/>
          </a:p>
        </p:txBody>
      </p:sp>
      <p:sp>
        <p:nvSpPr>
          <p:cNvPr id="38" name="Text 36"/>
          <p:cNvSpPr txBox="1"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app/main.py · app/ai/graph.py · app/api/routers/*.py</a:t>
            </a:r>
            <a:endParaRPr lang="en-US" sz="1000" dirty="0"/>
          </a:p>
        </p:txBody>
      </p:sp>
      <p:sp>
        <p:nvSpPr>
          <p:cNvPr id="39" name="Text 37"/>
          <p:cNvSpPr txBox="1"/>
          <p:nvPr/>
        </p:nvSpPr>
        <p:spPr>
          <a:xfrm>
            <a:off x="8897112" y="64739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VilniusPark Chatbot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1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tool-calling agent over a split store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91640"/>
            <a:ext cx="576072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spcAft>
                <a:spcPts val="1600"/>
              </a:spcAft>
              <a:buSzPct val="100000"/>
              <a:buChar char="•"/>
            </a:pPr>
            <a:r>
              <a:rPr lang="en-US" sz="14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 docs (general info, rules, booking process, per-car-park pages) are embedded into Milvus</a:t>
            </a:r>
            <a:endParaRPr lang="en-US" sz="1450" dirty="0"/>
          </a:p>
          <a:p>
            <a:pPr marL="342900" indent="-342900">
              <a:lnSpc>
                <a:spcPct val="125000"/>
              </a:lnSpc>
              <a:spcAft>
                <a:spcPts val="1600"/>
              </a:spcAft>
              <a:buSzPct val="100000"/>
              <a:buChar char="•"/>
            </a:pPr>
            <a:r>
              <a:rPr lang="en-US" sz="14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Dynamic data (hours, prices, capacity, reservations) stays in Postgres — it changes, so it's queried live, never embedded</a:t>
            </a:r>
            <a:endParaRPr lang="en-US" sz="1450" dirty="0"/>
          </a:p>
          <a:p>
            <a:pPr marL="342900" indent="-342900">
              <a:lnSpc>
                <a:spcPct val="125000"/>
              </a:lnSpc>
              <a:spcAft>
                <a:spcPts val="1600"/>
              </a:spcAft>
              <a:buSzPct val="100000"/>
              <a:buChar char="•"/>
            </a:pPr>
            <a:r>
              <a:rPr lang="en-US" sz="14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check_availability counts free spaces per period; a row lock stops two bookings taking the last one</a:t>
            </a:r>
            <a:endParaRPr lang="en-US" sz="1450" dirty="0"/>
          </a:p>
          <a:p>
            <a:pPr marL="342900" indent="-342900">
              <a:lnSpc>
                <a:spcPct val="125000"/>
              </a:lnSpc>
              <a:spcAft>
                <a:spcPts val="1600"/>
              </a:spcAft>
              <a:buSzPct val="100000"/>
              <a:buChar char="•"/>
            </a:pPr>
            <a:r>
              <a:rPr lang="en-US" sz="14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review (prepare_reservation) is a separate, explicit step from a save (confirm) — the model never authorizes a database write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6766560" y="1691640"/>
            <a:ext cx="4846320" cy="841248"/>
          </a:xfrm>
          <a:prstGeom prst="roundRect">
            <a:avLst>
              <a:gd name="adj" fmla="val 8696"/>
            </a:avLst>
          </a:prstGeom>
          <a:solidFill>
            <a:schemeClr val="bg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995160" y="178308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list_parkings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995160" y="2130552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IDs, names, districts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766560" y="2697480"/>
            <a:ext cx="4846320" cy="841248"/>
          </a:xfrm>
          <a:prstGeom prst="roundRect">
            <a:avLst>
              <a:gd name="adj" fmla="val 8696"/>
            </a:avLst>
          </a:prstGeom>
          <a:solidFill>
            <a:schemeClr val="bg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995160" y="278892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get_parking_info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6995160" y="3136392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date-specific prices, hours, capacity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766560" y="3703320"/>
            <a:ext cx="4846320" cy="841248"/>
          </a:xfrm>
          <a:prstGeom prst="roundRect">
            <a:avLst>
              <a:gd name="adj" fmla="val 8696"/>
            </a:avLst>
          </a:prstGeom>
          <a:solidFill>
            <a:schemeClr val="bg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995160" y="379476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search_public_rules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995160" y="4142232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Milvus search, PII-guarded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766560" y="4709160"/>
            <a:ext cx="4846320" cy="841248"/>
          </a:xfrm>
          <a:prstGeom prst="roundRect">
            <a:avLst>
              <a:gd name="adj" fmla="val 8696"/>
            </a:avLst>
          </a:prstGeom>
          <a:solidFill>
            <a:schemeClr val="bg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995160" y="480060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prepare_reservation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995160" y="5148072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validates + returns a review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app/ai/tools.py · app/ai/graph.py · app/db/repositories/*.py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8897112" y="64739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VilniusPark Chatbot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1 — GUARDRAILS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Guardrails that held up under real use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91640"/>
            <a:ext cx="5577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spcAft>
                <a:spcPts val="1600"/>
              </a:spcAft>
              <a:buSzPct val="100000"/>
              <a:buChar char="•"/>
            </a:pPr>
            <a:r>
              <a:rPr lang="en-US" sz="14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PIIGuard (Presidio + spaCy) keeps PII out of search queries and Milvus; PIIMiddleware redacts the agent's traffic</a:t>
            </a:r>
            <a:endParaRPr lang="en-US" sz="1450" dirty="0"/>
          </a:p>
          <a:p>
            <a:pPr marL="342900" indent="-342900">
              <a:lnSpc>
                <a:spcPct val="125000"/>
              </a:lnSpc>
              <a:spcAft>
                <a:spcPts val="1600"/>
              </a:spcAft>
              <a:buSzPct val="100000"/>
              <a:buChar char="•"/>
            </a:pPr>
            <a:r>
              <a:rPr lang="en-US" sz="14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opt-in transformer classifier screens for prompt injection before anything else runs</a:t>
            </a:r>
            <a:endParaRPr lang="en-US" sz="1450" dirty="0"/>
          </a:p>
          <a:p>
            <a:pPr marL="342900" indent="-342900">
              <a:lnSpc>
                <a:spcPct val="125000"/>
              </a:lnSpc>
              <a:spcAft>
                <a:spcPts val="1600"/>
              </a:spcAft>
              <a:buSzPct val="100000"/>
              <a:buChar char="•"/>
            </a:pPr>
            <a:r>
              <a:rPr lang="en-US" sz="14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settings.public_contacts allow-lists the operator's own published phone/email so it's never redacted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48640" y="4800600"/>
            <a:ext cx="5577840" cy="1417320"/>
          </a:xfrm>
          <a:prstGeom prst="roundRect">
            <a:avLst>
              <a:gd name="adj" fmla="val 6452"/>
            </a:avLst>
          </a:prstGeom>
          <a:solidFill>
            <a:srgbClr val="FEF3C7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493776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 by actually running the stack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5285232"/>
            <a:ext cx="5120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7835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testing caught a real bug the test suite missed: spaCy’s small NER model tagged "Vilnius" as a PERSON, corrupting answers mid-sentence. PERSON carries no real leak risk here (Milvus holds no customer data), so it was dropped from the redaction list.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7406640" y="4846320"/>
            <a:ext cx="228600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0B98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7406640" y="5696712"/>
            <a:ext cx="228600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false</a:t>
            </a:r>
            <a:endParaRPr lang="en-US" sz="11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positives after the fix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9966960" y="4846320"/>
            <a:ext cx="228600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563E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9966960" y="5696712"/>
            <a:ext cx="228600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entity types kept:</a:t>
            </a:r>
            <a:endParaRPr lang="en-US" sz="11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EMAIL, PHONE, etc.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app/ai/guardrails.py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8897112" y="64739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VilniusPark Chatbot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ACTION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chat UI, live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349240" cy="4389120"/>
          </a:xfrm>
          <a:prstGeom prst="roundRect">
            <a:avLst>
              <a:gd name="adj" fmla="val 1250"/>
            </a:avLst>
          </a:prstGeom>
          <a:solidFill>
            <a:srgbClr val="FFFFFF"/>
          </a:solidFill>
          <a:ln w="12700">
            <a:solidFill>
              <a:srgbClr val="DBE4EF"/>
            </a:solidFill>
            <a:prstDash val="solid"/>
          </a:ln>
          <a:effectLst>
            <a:outerShdw sx="100000" sy="100000" kx="0" ky="0" algn="bl" rotWithShape="0" blurRad="127000" dist="38100" dir="5400000">
              <a:srgbClr val="172033">
                <a:alpha val="15000"/>
              </a:srgbClr>
            </a:outerShdw>
          </a:effectLst>
        </p:spPr>
      </p:sp>
      <p:pic>
        <p:nvPicPr>
          <p:cNvPr id="5" name="Image 0" descr="/private/tmp/claude-501/-Users-kiryll-fiodarau-parking-reservation-chatbot/482ae88f-4f64-4e1d-b8b2-9ecbe3b20b7a/scratchpad/deck/images/chat-landing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764792"/>
            <a:ext cx="5202936" cy="387705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0080" y="5715000"/>
            <a:ext cx="5166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Landing screen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6172200" y="1691640"/>
            <a:ext cx="5349240" cy="4389120"/>
          </a:xfrm>
          <a:prstGeom prst="roundRect">
            <a:avLst>
              <a:gd name="adj" fmla="val 1250"/>
            </a:avLst>
          </a:prstGeom>
          <a:solidFill>
            <a:srgbClr val="FFFFFF"/>
          </a:solidFill>
          <a:ln w="12700">
            <a:solidFill>
              <a:srgbClr val="DBE4EF"/>
            </a:solidFill>
            <a:prstDash val="solid"/>
          </a:ln>
          <a:effectLst>
            <a:outerShdw sx="100000" sy="100000" kx="0" ky="0" algn="bl" rotWithShape="0" blurRad="127000" dist="38100" dir="5400000">
              <a:srgbClr val="172033">
                <a:alpha val="15000"/>
              </a:srgbClr>
            </a:outerShdw>
          </a:effectLst>
        </p:spPr>
      </p:sp>
      <p:pic>
        <p:nvPicPr>
          <p:cNvPr id="8" name="Image 1" descr="/private/tmp/claude-501/-Users-kiryll-fiodarau-parking-reservation-chatbot/482ae88f-4f64-4e1d-b8b2-9ecbe3b20b7a/scratchpad/deck/images/chat-qa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245352" y="1764792"/>
            <a:ext cx="5202936" cy="3877056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6263640" y="5715000"/>
            <a:ext cx="5166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with cited sources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app/templates/chat.html · app/static/chat.js</a:t>
            </a:r>
            <a:endParaRPr lang="en-US" sz="1000" dirty="0"/>
          </a:p>
        </p:txBody>
      </p:sp>
      <p:sp>
        <p:nvSpPr>
          <p:cNvPr id="11" name="Text 7"/>
          <p:cNvSpPr txBox="1"/>
          <p:nvPr/>
        </p:nvSpPr>
        <p:spPr>
          <a:xfrm>
            <a:off x="8897112" y="64739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VilniusPark Chatbot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ACTION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review to a pending reservation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349240" cy="4389120"/>
          </a:xfrm>
          <a:prstGeom prst="roundRect">
            <a:avLst>
              <a:gd name="adj" fmla="val 1250"/>
            </a:avLst>
          </a:prstGeom>
          <a:solidFill>
            <a:srgbClr val="FFFFFF"/>
          </a:solidFill>
          <a:ln w="12700">
            <a:solidFill>
              <a:srgbClr val="DBE4EF"/>
            </a:solidFill>
            <a:prstDash val="solid"/>
          </a:ln>
          <a:effectLst>
            <a:outerShdw sx="100000" sy="100000" kx="0" ky="0" algn="bl" rotWithShape="0" blurRad="127000" dist="38100" dir="5400000">
              <a:srgbClr val="172033">
                <a:alpha val="15000"/>
              </a:srgbClr>
            </a:outerShdw>
          </a:effectLst>
        </p:spPr>
      </p:sp>
      <p:pic>
        <p:nvPicPr>
          <p:cNvPr id="5" name="Image 0" descr="/private/tmp/claude-501/-Users-kiryll-fiodarau-parking-reservation-chatbot/482ae88f-4f64-4e1d-b8b2-9ecbe3b20b7a/scratchpad/deck/images/chat-review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764792"/>
            <a:ext cx="5202936" cy="387705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0080" y="5715000"/>
            <a:ext cx="5166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prepare_reservation's review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6172200" y="1691640"/>
            <a:ext cx="5349240" cy="4389120"/>
          </a:xfrm>
          <a:prstGeom prst="roundRect">
            <a:avLst>
              <a:gd name="adj" fmla="val 1250"/>
            </a:avLst>
          </a:prstGeom>
          <a:solidFill>
            <a:srgbClr val="FFFFFF"/>
          </a:solidFill>
          <a:ln w="12700">
            <a:solidFill>
              <a:srgbClr val="DBE4EF"/>
            </a:solidFill>
            <a:prstDash val="solid"/>
          </a:ln>
          <a:effectLst>
            <a:outerShdw sx="100000" sy="100000" kx="0" ky="0" algn="bl" rotWithShape="0" blurRad="127000" dist="38100" dir="5400000">
              <a:srgbClr val="172033">
                <a:alpha val="15000"/>
              </a:srgbClr>
            </a:outerShdw>
          </a:effectLst>
        </p:spPr>
      </p:sp>
      <p:pic>
        <p:nvPicPr>
          <p:cNvPr id="8" name="Image 1" descr="/private/tmp/claude-501/-Users-kiryll-fiodarau-parking-reservation-chatbot/482ae88f-4f64-4e1d-b8b2-9ecbe3b20b7a/scratchpad/deck/images/chat-confirm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245352" y="1764792"/>
            <a:ext cx="5202936" cy="3877056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6263640" y="5715000"/>
            <a:ext cx="5166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→ pending, awaiting the admin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app/ai/tools.py · app/ai/graph.py</a:t>
            </a:r>
            <a:endParaRPr lang="en-US" sz="1000" dirty="0"/>
          </a:p>
        </p:txBody>
      </p:sp>
      <p:sp>
        <p:nvSpPr>
          <p:cNvPr id="11" name="Text 7"/>
          <p:cNvSpPr txBox="1"/>
          <p:nvPr/>
        </p:nvSpPr>
        <p:spPr>
          <a:xfrm>
            <a:off x="8897112" y="64739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VilniusPark Chatbot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2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human-in-the-loop admin agent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91640"/>
            <a:ext cx="576072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second agent proposes request_admin_approval(summary); LangChain's HumanInTheLoopMiddleware pauses that call until the administrator decides</a:t>
            </a:r>
            <a:endParaRPr lang="en-US" sz="1400" dirty="0"/>
          </a:p>
          <a:p>
            <a:pPr marL="342900" indent="-342900">
              <a:lnSpc>
                <a:spcPct val="125000"/>
              </a:lnSpc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administrator decides over a REST API (GET /admin/reservations, POST .../decision), guarded by X-Admin-Key with lockout</a:t>
            </a:r>
            <a:endParaRPr lang="en-US" sz="1400" dirty="0"/>
          </a:p>
          <a:p>
            <a:pPr marL="342900" indent="-342900">
              <a:lnSpc>
                <a:spcPct val="125000"/>
              </a:lnSpc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interchangeable clients: a Streamlit console and a web page at /admin — same API underneath</a:t>
            </a:r>
            <a:endParaRPr lang="en-US" sz="1400" dirty="0"/>
          </a:p>
          <a:p>
            <a:pPr marL="342900" indent="-342900">
              <a:lnSpc>
                <a:spcPct val="125000"/>
              </a:lnSpc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customer finds out too: the chat page polls and pops up “Reservation approved” or “rejected”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766560" y="1691640"/>
            <a:ext cx="4846320" cy="4206240"/>
          </a:xfrm>
          <a:prstGeom prst="roundRect">
            <a:avLst>
              <a:gd name="adj" fmla="val 1304"/>
            </a:avLst>
          </a:prstGeom>
          <a:solidFill>
            <a:srgbClr val="FFFFFF"/>
          </a:solidFill>
          <a:ln w="12700">
            <a:solidFill>
              <a:srgbClr val="DBE4EF"/>
            </a:solidFill>
            <a:prstDash val="solid"/>
          </a:ln>
          <a:effectLst>
            <a:outerShdw sx="100000" sy="100000" kx="0" ky="0" algn="bl" rotWithShape="0" blurRad="127000" dist="38100" dir="5400000">
              <a:srgbClr val="172033">
                <a:alpha val="15000"/>
              </a:srgbClr>
            </a:outerShdw>
          </a:effectLst>
        </p:spPr>
      </p:sp>
      <p:pic>
        <p:nvPicPr>
          <p:cNvPr id="6" name="Image 0" descr="/private/tmp/claude-501/-Users-kiryll-fiodarau-parking-reservation-chatbot/482ae88f-4f64-4e1d-b8b2-9ecbe3b20b7a/scratchpad/deck/images/admin-console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839712" y="1764792"/>
            <a:ext cx="4700016" cy="369417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858000" y="5532120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console (web)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app/ai/agents.py · app/api/routers/admin.py · ui/admin_app.py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8897112" y="64739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VilniusPark Chatbot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3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standalone server records the decision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91640"/>
            <a:ext cx="576072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spcAft>
                <a:spcPts val="1600"/>
              </a:spcAft>
              <a:buSzPct val="100000"/>
              <a:buChar char="•"/>
            </a:pPr>
            <a:r>
              <a:rPr lang="en-US" sz="14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own docker-compose service, not an in-process subprocess — a real, independently testable server</a:t>
            </a:r>
            <a:endParaRPr lang="en-US" sz="1450" dirty="0"/>
          </a:p>
          <a:p>
            <a:pPr marL="342900" indent="-342900">
              <a:lnSpc>
                <a:spcPct val="125000"/>
              </a:lnSpc>
              <a:spcAft>
                <a:spcPts val="1600"/>
              </a:spcAft>
              <a:buSzPct val="100000"/>
              <a:buChar char="•"/>
            </a:pPr>
            <a:r>
              <a:rPr lang="en-US" sz="14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Streamable-HTTP transport, one tool: record_reservation, behind a bearer-token check (MCP_API_KEY)</a:t>
            </a:r>
            <a:endParaRPr lang="en-US" sz="1450" dirty="0"/>
          </a:p>
          <a:p>
            <a:pPr marL="342900" indent="-342900">
              <a:lnSpc>
                <a:spcPct val="125000"/>
              </a:lnSpc>
              <a:spcAft>
                <a:spcPts val="1600"/>
              </a:spcAft>
              <a:buSzPct val="100000"/>
              <a:buChar char="•"/>
            </a:pPr>
            <a:r>
              <a:rPr lang="en-US" sz="14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LangGraph recording node calls it as a real MCP client (langchain-mcp-adapters), just like any other tool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48640" y="4846320"/>
            <a:ext cx="10881360" cy="1143000"/>
          </a:xfrm>
          <a:prstGeom prst="roundRect">
            <a:avLst>
              <a:gd name="adj" fmla="val 6400"/>
            </a:avLst>
          </a:prstGeom>
          <a:solidFill>
            <a:srgbClr val="172033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4956048"/>
            <a:ext cx="10332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approved_reservations.txt — written live during this walkthrough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5257800"/>
            <a:ext cx="10332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 User | TRY-002 | 2026-10-10T10:00:00+03:00 - 2026-10-10T14:00:00+03:00 | 2026-10-05T22:26:44+03:00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mcp_server/server.py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8897112" y="64739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VilniusPark Chatbot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4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Durable orchestration with LangGraph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0020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graph per chat session: user_agent → admin → record → notification. The admin's decision can take hours, so the admin node pauses the whole conversation (Postgres-checkpointed) and the admin API resumes it.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53796" y="2834640"/>
            <a:ext cx="3017520" cy="1463040"/>
          </a:xfrm>
          <a:prstGeom prst="roundRect">
            <a:avLst>
              <a:gd name="adj" fmla="val 6250"/>
            </a:avLst>
          </a:prstGeom>
          <a:solidFill>
            <a:srgbClr val="2563EB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26948" y="2926080"/>
            <a:ext cx="28712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user_agent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45236" y="3255264"/>
            <a:ext cx="283464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commands first, then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RAG user agent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671316" y="3566160"/>
            <a:ext cx="914400" cy="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4585716" y="2834640"/>
            <a:ext cx="3017520" cy="1463040"/>
          </a:xfrm>
          <a:prstGeom prst="roundRect">
            <a:avLst>
              <a:gd name="adj" fmla="val 6250"/>
            </a:avLst>
          </a:prstGeom>
          <a:solidFill>
            <a:srgbClr val="F59E0B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658868" y="2926080"/>
            <a:ext cx="28712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4677156" y="3255264"/>
            <a:ext cx="283464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HITL middleware pause,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Postgres-checkpointed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7603236" y="3566160"/>
            <a:ext cx="914400" cy="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8517636" y="2834640"/>
            <a:ext cx="3017520" cy="1463040"/>
          </a:xfrm>
          <a:prstGeom prst="roundRect">
            <a:avLst>
              <a:gd name="adj" fmla="val 6250"/>
            </a:avLst>
          </a:prstGeom>
          <a:solidFill>
            <a:srgbClr val="10B981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590788" y="2926080"/>
            <a:ext cx="28712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 → notification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8609076" y="3255264"/>
            <a:ext cx="283464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on approval,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the chat pop-up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484632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i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ParkingGraph.chat() returns as soon as the graph pauses; ParkingGraph.resume() is called from POST /admin/reservations/{id}/decision, and retries a step that failed.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app/ai/graph.py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8897112" y="64739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VilniusPark Chatbot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 &amp; EVALUATION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Tested for real, not just in theory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2542032" cy="1920240"/>
          </a:xfrm>
          <a:prstGeom prst="roundRect">
            <a:avLst>
              <a:gd name="adj" fmla="val 4762"/>
            </a:avLst>
          </a:prstGeom>
          <a:solidFill>
            <a:schemeClr val="bg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1920240"/>
            <a:ext cx="2542032" cy="96377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563E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96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884018"/>
            <a:ext cx="2542032" cy="5907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tests:</a:t>
            </a:r>
            <a:endParaRPr lang="en-US" sz="11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unit, integration, e2e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3383280" y="1737360"/>
            <a:ext cx="2542032" cy="1920240"/>
          </a:xfrm>
          <a:prstGeom prst="roundRect">
            <a:avLst>
              <a:gd name="adj" fmla="val 4762"/>
            </a:avLst>
          </a:prstGeom>
          <a:solidFill>
            <a:schemeClr val="bg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383280" y="1920240"/>
            <a:ext cx="2542032" cy="96377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EA5E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3383280" y="2884018"/>
            <a:ext cx="2542032" cy="5907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ephemeral Postgres</a:t>
            </a:r>
            <a:endParaRPr lang="en-US" sz="11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test run (testcontainers)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217920" y="1737360"/>
            <a:ext cx="2542032" cy="1920240"/>
          </a:xfrm>
          <a:prstGeom prst="roundRect">
            <a:avLst>
              <a:gd name="adj" fmla="val 4762"/>
            </a:avLst>
          </a:prstGeom>
          <a:solidFill>
            <a:schemeClr val="bg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217920" y="1920240"/>
            <a:ext cx="2542032" cy="96377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59E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0.93</a:t>
            </a:r>
            <a:endParaRPr lang="en-US" sz="4000" dirty="0"/>
          </a:p>
        </p:txBody>
      </p:sp>
      <p:sp>
        <p:nvSpPr>
          <p:cNvPr id="12" name="Text 10"/>
          <p:cNvSpPr txBox="1"/>
          <p:nvPr/>
        </p:nvSpPr>
        <p:spPr>
          <a:xfrm>
            <a:off x="6217920" y="2884018"/>
            <a:ext cx="2542032" cy="5907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Recall@4 on the</a:t>
            </a:r>
            <a:endParaRPr lang="en-US" sz="11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15-question golden set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9052560" y="1737360"/>
            <a:ext cx="2542032" cy="1920240"/>
          </a:xfrm>
          <a:prstGeom prst="roundRect">
            <a:avLst>
              <a:gd name="adj" fmla="val 4762"/>
            </a:avLst>
          </a:prstGeom>
          <a:solidFill>
            <a:schemeClr val="bg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9052560" y="1920240"/>
            <a:ext cx="2542032" cy="96377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0B98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</a:t>
            </a:r>
            <a:endParaRPr lang="en-US" sz="4000" dirty="0"/>
          </a:p>
        </p:txBody>
      </p:sp>
      <p:sp>
        <p:nvSpPr>
          <p:cNvPr id="15" name="Text 13"/>
          <p:cNvSpPr txBox="1"/>
          <p:nvPr/>
        </p:nvSpPr>
        <p:spPr>
          <a:xfrm>
            <a:off x="9052560" y="2884018"/>
            <a:ext cx="2542032" cy="5907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ruff + pytest</a:t>
            </a:r>
            <a:endParaRPr lang="en-US" sz="11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every push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4069080"/>
            <a:ext cx="11091672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e2e tests spin up the real MCP server as a subprocess and check the exact line it writes — not a mock</a:t>
            </a:r>
            <a:endParaRPr lang="en-US" sz="1350" dirty="0"/>
          </a:p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evals/report.md: Precision@4 0.58, Recall@4 0.93; retrieval about 0.6 s, a full chat turn about 3.7 s</a:t>
            </a:r>
            <a:endParaRPr lang="en-US" sz="1350" dirty="0"/>
          </a:p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load_tests/report.md: chatbot, admin and MCP load-tested with 0 failures; 1,112 MCP writes, none lost</a:t>
            </a:r>
            <a:endParaRPr lang="en-US" sz="1350" dirty="0"/>
          </a:p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testing caught a real bug: summarizing long chats sent parallel_tool_calls without tools (HTTP 500) - fixed and covered by a test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tests/ · evals/ · load_tests/ · .github/workflows/ci.yml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8897112" y="64739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VilniusPark Chatbot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 YOURSELF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6868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Try it yourself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10881360" cy="594360"/>
          </a:xfrm>
          <a:prstGeom prst="roundRect">
            <a:avLst>
              <a:gd name="adj" fmla="val 12308"/>
            </a:avLst>
          </a:prstGeom>
          <a:solidFill>
            <a:srgbClr val="1E3A8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1920240"/>
            <a:ext cx="10332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compose --env-file .env.development up --build -d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2697480"/>
            <a:ext cx="10881360" cy="594360"/>
          </a:xfrm>
          <a:prstGeom prst="roundRect">
            <a:avLst>
              <a:gd name="adj" fmla="val 12308"/>
            </a:avLst>
          </a:prstGeom>
          <a:solidFill>
            <a:srgbClr val="1E3A8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" y="2697480"/>
            <a:ext cx="10332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alembic upgrade head, then python -m scripts.ingest_static / ingest_dynamic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3474720"/>
            <a:ext cx="10881360" cy="594360"/>
          </a:xfrm>
          <a:prstGeom prst="roundRect">
            <a:avLst>
              <a:gd name="adj" fmla="val 12308"/>
            </a:avLst>
          </a:prstGeom>
          <a:solidFill>
            <a:srgbClr val="1E3A8A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22960" y="3474720"/>
            <a:ext cx="10332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Chat: http://localhost:8000/  ·  Admin: http://localhost:8000/admin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48640" y="4251960"/>
            <a:ext cx="10881360" cy="594360"/>
          </a:xfrm>
          <a:prstGeom prst="roundRect">
            <a:avLst>
              <a:gd name="adj" fmla="val 12308"/>
            </a:avLst>
          </a:prstGeom>
          <a:solidFill>
            <a:srgbClr val="1E3A8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22960" y="4251960"/>
            <a:ext cx="10332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make test  ·  make eval  ·  make load-test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60807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docs/SPECIFICATION.md has the full assignment · README.md has the full setup guide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VilniusPark">
  <a:themeElements>
    <a:clrScheme name="VilniusPark">
      <a:dk1>
        <a:srgbClr val="172033"/>
      </a:dk1>
      <a:lt1>
        <a:srgbClr val="FFFFFF"/>
      </a:lt1>
      <a:dk2>
        <a:srgbClr val="132257"/>
      </a:dk2>
      <a:lt2>
        <a:srgbClr val="EFF6FF"/>
      </a:lt2>
      <a:accent1>
        <a:srgbClr val="2563EB"/>
      </a:accent1>
      <a:accent2>
        <a:srgbClr val="0EA5E9"/>
      </a:accent2>
      <a:accent3>
        <a:srgbClr val="F59E0B"/>
      </a:accent3>
      <a:accent4>
        <a:srgbClr val="10B981"/>
      </a:accent4>
      <a:accent5>
        <a:srgbClr val="EF4444"/>
      </a:accent5>
      <a:accent6>
        <a:srgbClr val="64748B"/>
      </a:accent6>
      <a:hlink>
        <a:srgbClr val="2563EB"/>
      </a:hlink>
      <a:folHlink>
        <a:srgbClr val="1D4ED8"/>
      </a:folHlink>
    </a:clrScheme>
    <a:fontScheme name="VilniusPark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VilniusPark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2026-10-06T11:29:51Z</dcterms:created>
  <dcterms:modified xsi:type="dcterms:W3CDTF">2026-10-06T11:29:51Z</dcterms:modified>
</cp:coreProperties>
</file>